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ardoto Bold" charset="1" panose="00000800000000000000"/>
      <p:regular r:id="rId18"/>
    </p:embeddedFont>
    <p:embeddedFont>
      <p:font typeface="Montaser Arabic Heavy" charset="1" panose="00000A00000000000000"/>
      <p:regular r:id="rId19"/>
    </p:embeddedFont>
    <p:embeddedFont>
      <p:font typeface="Mardoto" charset="1" panose="00000500000000000000"/>
      <p:regular r:id="rId20"/>
    </p:embeddedFont>
    <p:embeddedFont>
      <p:font typeface="Montaser Arabic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facuescalante/UTN-TUPaD-Programacion1/tree/main/TPI-Prog1" TargetMode="External" Type="http://schemas.openxmlformats.org/officeDocument/2006/relationships/hyperlink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mailto:marialdanahernandez@gmail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57649" y="1593352"/>
            <a:ext cx="13577011" cy="6897563"/>
            <a:chOff x="0" y="0"/>
            <a:chExt cx="3575838" cy="1816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75838" cy="1816642"/>
            </a:xfrm>
            <a:custGeom>
              <a:avLst/>
              <a:gdLst/>
              <a:ahLst/>
              <a:cxnLst/>
              <a:rect r="r" b="b" t="t" l="l"/>
              <a:pathLst>
                <a:path h="1816642" w="3575838">
                  <a:moveTo>
                    <a:pt x="0" y="0"/>
                  </a:moveTo>
                  <a:lnTo>
                    <a:pt x="3575838" y="0"/>
                  </a:lnTo>
                  <a:lnTo>
                    <a:pt x="3575838" y="1816642"/>
                  </a:lnTo>
                  <a:lnTo>
                    <a:pt x="0" y="1816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575838" cy="1864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15236272" y="-1468692"/>
            <a:ext cx="4046056" cy="2430717"/>
            <a:chOff x="0" y="0"/>
            <a:chExt cx="1065628" cy="6401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5628" cy="640189"/>
            </a:xfrm>
            <a:custGeom>
              <a:avLst/>
              <a:gdLst/>
              <a:ahLst/>
              <a:cxnLst/>
              <a:rect r="r" b="b" t="t" l="l"/>
              <a:pathLst>
                <a:path h="640189" w="1065628">
                  <a:moveTo>
                    <a:pt x="0" y="0"/>
                  </a:moveTo>
                  <a:lnTo>
                    <a:pt x="1065628" y="0"/>
                  </a:lnTo>
                  <a:lnTo>
                    <a:pt x="1065628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65628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14357" y="7431632"/>
            <a:ext cx="1445195" cy="1489983"/>
            <a:chOff x="0" y="0"/>
            <a:chExt cx="812800" cy="8379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37989"/>
            </a:xfrm>
            <a:custGeom>
              <a:avLst/>
              <a:gdLst/>
              <a:ahLst/>
              <a:cxnLst/>
              <a:rect r="r" b="b" t="t" l="l"/>
              <a:pathLst>
                <a:path h="83798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37989"/>
                  </a:lnTo>
                  <a:lnTo>
                    <a:pt x="0" y="837989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885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500" y="741664"/>
            <a:ext cx="204131" cy="1145622"/>
            <a:chOff x="0" y="0"/>
            <a:chExt cx="272175" cy="152749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5400000">
            <a:off x="16999532" y="-87300"/>
            <a:ext cx="204131" cy="1145622"/>
            <a:chOff x="0" y="0"/>
            <a:chExt cx="272175" cy="1527496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34" id="34"/>
          <p:cNvSpPr txBox="true"/>
          <p:nvPr/>
        </p:nvSpPr>
        <p:spPr>
          <a:xfrm rot="0">
            <a:off x="3215928" y="2819464"/>
            <a:ext cx="11449610" cy="77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191C59"/>
                </a:solidFill>
                <a:latin typeface="Mardoto Bold"/>
                <a:ea typeface="Mardoto Bold"/>
                <a:cs typeface="Mardoto Bold"/>
                <a:sym typeface="Mardoto Bold"/>
              </a:rPr>
              <a:t>    - TUPaD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7504753" y="3010463"/>
            <a:ext cx="484779" cy="484779"/>
          </a:xfrm>
          <a:custGeom>
            <a:avLst/>
            <a:gdLst/>
            <a:ahLst/>
            <a:cxnLst/>
            <a:rect r="r" b="b" t="t" l="l"/>
            <a:pathLst>
              <a:path h="484779" w="484779">
                <a:moveTo>
                  <a:pt x="0" y="0"/>
                </a:moveTo>
                <a:lnTo>
                  <a:pt x="484779" y="0"/>
                </a:lnTo>
                <a:lnTo>
                  <a:pt x="484779" y="484779"/>
                </a:lnTo>
                <a:lnTo>
                  <a:pt x="0" y="484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412063" y="7532366"/>
            <a:ext cx="1249784" cy="1288516"/>
          </a:xfrm>
          <a:custGeom>
            <a:avLst/>
            <a:gdLst/>
            <a:ahLst/>
            <a:cxnLst/>
            <a:rect r="r" b="b" t="t" l="l"/>
            <a:pathLst>
              <a:path h="1288516" w="1249784">
                <a:moveTo>
                  <a:pt x="0" y="0"/>
                </a:moveTo>
                <a:lnTo>
                  <a:pt x="1249784" y="0"/>
                </a:lnTo>
                <a:lnTo>
                  <a:pt x="1249784" y="1288516"/>
                </a:lnTo>
                <a:lnTo>
                  <a:pt x="0" y="12885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9" t="0" r="-1549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3633982" y="4168015"/>
            <a:ext cx="11151355" cy="119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1"/>
              </a:lnSpc>
            </a:pPr>
            <a:r>
              <a:rPr lang="en-US" b="true" sz="3871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TRABAJO PRÁCTICO INTEGRADOR (TPI) - PROGRAMACIÓN 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974340" y="8773257"/>
            <a:ext cx="11810997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Docente Titular : Cinthia Rigoni (Comisión 4) - Sebastián Bruselario (Comisión 6).</a:t>
            </a:r>
          </a:p>
          <a:p>
            <a:pPr algn="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Docente Tutor: Ana Mutti (Comisión 4) - Flor Gubiotti (Comisión 6).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633982" y="5603711"/>
            <a:ext cx="11151355" cy="59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1"/>
              </a:lnSpc>
            </a:pPr>
            <a:r>
              <a:rPr lang="en-US" b="true" sz="3871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“GESTIÓN DE PAÍSES CON PYTHON”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97290" y="1349312"/>
            <a:ext cx="9186499" cy="2012941"/>
            <a:chOff x="0" y="0"/>
            <a:chExt cx="2419489" cy="530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9489" cy="530157"/>
            </a:xfrm>
            <a:custGeom>
              <a:avLst/>
              <a:gdLst/>
              <a:ahLst/>
              <a:cxnLst/>
              <a:rect r="r" b="b" t="t" l="l"/>
              <a:pathLst>
                <a:path h="530157" w="2419489">
                  <a:moveTo>
                    <a:pt x="0" y="0"/>
                  </a:moveTo>
                  <a:lnTo>
                    <a:pt x="2419489" y="0"/>
                  </a:lnTo>
                  <a:lnTo>
                    <a:pt x="2419489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19489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94938" y="1534485"/>
            <a:ext cx="9698125" cy="168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70"/>
              </a:lnSpc>
            </a:pPr>
            <a:r>
              <a:rPr lang="en-US" b="true" sz="10870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ÍNDICE</a:t>
            </a:r>
          </a:p>
        </p:txBody>
      </p:sp>
      <p:grpSp>
        <p:nvGrpSpPr>
          <p:cNvPr name="Group 6" id="6"/>
          <p:cNvGrpSpPr/>
          <p:nvPr/>
        </p:nvGrpSpPr>
        <p:grpSpPr>
          <a:xfrm rot="5400000">
            <a:off x="7537139" y="-11024938"/>
            <a:ext cx="3086100" cy="21287411"/>
            <a:chOff x="0" y="0"/>
            <a:chExt cx="812800" cy="56065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5606561"/>
            </a:xfrm>
            <a:custGeom>
              <a:avLst/>
              <a:gdLst/>
              <a:ahLst/>
              <a:cxnLst/>
              <a:rect r="r" b="b" t="t" l="l"/>
              <a:pathLst>
                <a:path h="560656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5606561"/>
                  </a:lnTo>
                  <a:lnTo>
                    <a:pt x="0" y="5606561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5654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85305" y="4029990"/>
            <a:ext cx="1585655" cy="1238141"/>
            <a:chOff x="0" y="0"/>
            <a:chExt cx="678958" cy="5301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94273" y="4111795"/>
            <a:ext cx="2320198" cy="104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24"/>
              </a:lnSpc>
            </a:pPr>
            <a:r>
              <a:rPr lang="en-US" b="true" sz="6686" spc="367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14471" y="4231052"/>
            <a:ext cx="5658378" cy="64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14"/>
              </a:lnSpc>
              <a:spcBef>
                <a:spcPct val="0"/>
              </a:spcBef>
            </a:pPr>
            <a:r>
              <a:rPr lang="en-US" sz="3724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Tema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185305" y="5594676"/>
            <a:ext cx="1585655" cy="1238141"/>
            <a:chOff x="0" y="0"/>
            <a:chExt cx="678958" cy="5301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794273" y="5676481"/>
            <a:ext cx="2320198" cy="104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24"/>
              </a:lnSpc>
            </a:pPr>
            <a:r>
              <a:rPr lang="en-US" b="true" sz="6686" spc="367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14471" y="5795738"/>
            <a:ext cx="5722189" cy="64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14"/>
              </a:lnSpc>
              <a:spcBef>
                <a:spcPct val="0"/>
              </a:spcBef>
            </a:pPr>
            <a:r>
              <a:rPr lang="en-US" sz="3724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Marco teórico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185305" y="7159363"/>
            <a:ext cx="1585655" cy="1238141"/>
            <a:chOff x="0" y="0"/>
            <a:chExt cx="678958" cy="5301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794273" y="7241168"/>
            <a:ext cx="2320198" cy="104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24"/>
              </a:lnSpc>
            </a:pPr>
            <a:r>
              <a:rPr lang="en-US" b="true" sz="6686" spc="367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14471" y="7360425"/>
            <a:ext cx="5658378" cy="64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14"/>
              </a:lnSpc>
              <a:spcBef>
                <a:spcPct val="0"/>
              </a:spcBef>
            </a:pPr>
            <a:r>
              <a:rPr lang="en-US" sz="3724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Objetivo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60485" y="4029990"/>
            <a:ext cx="1585655" cy="1238141"/>
            <a:chOff x="0" y="0"/>
            <a:chExt cx="678958" cy="53015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569453" y="4111795"/>
            <a:ext cx="2320198" cy="104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24"/>
              </a:lnSpc>
            </a:pPr>
            <a:r>
              <a:rPr lang="en-US" b="true" sz="6686" spc="367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889651" y="4231052"/>
            <a:ext cx="5369649" cy="64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14"/>
              </a:lnSpc>
              <a:spcBef>
                <a:spcPct val="0"/>
              </a:spcBef>
            </a:pPr>
            <a:r>
              <a:rPr lang="en-US" sz="3724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Metodología utilizada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60485" y="5594676"/>
            <a:ext cx="1585655" cy="1238141"/>
            <a:chOff x="0" y="0"/>
            <a:chExt cx="678958" cy="5301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569453" y="5676481"/>
            <a:ext cx="2320198" cy="104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24"/>
              </a:lnSpc>
            </a:pPr>
            <a:r>
              <a:rPr lang="en-US" b="true" sz="6686" spc="367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889651" y="5795738"/>
            <a:ext cx="5369649" cy="64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14"/>
              </a:lnSpc>
              <a:spcBef>
                <a:spcPct val="0"/>
              </a:spcBef>
            </a:pPr>
            <a:r>
              <a:rPr lang="en-US" sz="3724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Resultados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960485" y="7159363"/>
            <a:ext cx="1585655" cy="1238141"/>
            <a:chOff x="0" y="0"/>
            <a:chExt cx="678958" cy="53015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569453" y="7241168"/>
            <a:ext cx="2320198" cy="104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24"/>
              </a:lnSpc>
            </a:pPr>
            <a:r>
              <a:rPr lang="en-US" b="true" sz="6686" spc="367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7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889651" y="7360425"/>
            <a:ext cx="5369649" cy="64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14"/>
              </a:lnSpc>
              <a:spcBef>
                <a:spcPct val="0"/>
              </a:spcBef>
            </a:pPr>
            <a:r>
              <a:rPr lang="en-US" sz="3724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Conclusiones</a:t>
            </a:r>
          </a:p>
        </p:txBody>
      </p:sp>
      <p:grpSp>
        <p:nvGrpSpPr>
          <p:cNvPr name="Group 39" id="39"/>
          <p:cNvGrpSpPr/>
          <p:nvPr/>
        </p:nvGrpSpPr>
        <p:grpSpPr>
          <a:xfrm rot="5400000">
            <a:off x="16999532" y="-87300"/>
            <a:ext cx="204131" cy="1145622"/>
            <a:chOff x="0" y="0"/>
            <a:chExt cx="272175" cy="1527496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49" id="49"/>
          <p:cNvGrpSpPr/>
          <p:nvPr/>
        </p:nvGrpSpPr>
        <p:grpSpPr>
          <a:xfrm rot="0">
            <a:off x="2185305" y="8721354"/>
            <a:ext cx="1585655" cy="1238141"/>
            <a:chOff x="0" y="0"/>
            <a:chExt cx="678958" cy="53015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794273" y="8803159"/>
            <a:ext cx="2320198" cy="104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24"/>
              </a:lnSpc>
            </a:pPr>
            <a:r>
              <a:rPr lang="en-US" b="true" sz="6686" spc="367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4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114471" y="8922416"/>
            <a:ext cx="5658378" cy="64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14"/>
              </a:lnSpc>
              <a:spcBef>
                <a:spcPct val="0"/>
              </a:spcBef>
            </a:pPr>
            <a:r>
              <a:rPr lang="en-US" sz="3724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Diseño de caso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960485" y="8721354"/>
            <a:ext cx="1585655" cy="1238141"/>
            <a:chOff x="0" y="0"/>
            <a:chExt cx="678958" cy="53015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569453" y="8803159"/>
            <a:ext cx="2320198" cy="104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24"/>
              </a:lnSpc>
            </a:pPr>
            <a:r>
              <a:rPr lang="en-US" b="true" sz="6686" spc="367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8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889651" y="8922416"/>
            <a:ext cx="5369649" cy="64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14"/>
              </a:lnSpc>
              <a:spcBef>
                <a:spcPct val="0"/>
              </a:spcBef>
            </a:pPr>
            <a:r>
              <a:rPr lang="en-US" sz="3724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Repositorio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3061191" y="1633185"/>
            <a:ext cx="1445195" cy="1445195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13158897" y="1730890"/>
            <a:ext cx="1249784" cy="1249784"/>
          </a:xfrm>
          <a:custGeom>
            <a:avLst/>
            <a:gdLst/>
            <a:ahLst/>
            <a:cxnLst/>
            <a:rect r="r" b="b" t="t" l="l"/>
            <a:pathLst>
              <a:path h="1249784" w="1249784">
                <a:moveTo>
                  <a:pt x="0" y="0"/>
                </a:moveTo>
                <a:lnTo>
                  <a:pt x="1249784" y="0"/>
                </a:lnTo>
                <a:lnTo>
                  <a:pt x="1249784" y="1249784"/>
                </a:lnTo>
                <a:lnTo>
                  <a:pt x="0" y="1249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32125" y="2538110"/>
            <a:ext cx="11449610" cy="1790989"/>
            <a:chOff x="0" y="0"/>
            <a:chExt cx="3015535" cy="4717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5535" cy="471701"/>
            </a:xfrm>
            <a:custGeom>
              <a:avLst/>
              <a:gdLst/>
              <a:ahLst/>
              <a:cxnLst/>
              <a:rect r="r" b="b" t="t" l="l"/>
              <a:pathLst>
                <a:path h="471701" w="3015535">
                  <a:moveTo>
                    <a:pt x="0" y="0"/>
                  </a:moveTo>
                  <a:lnTo>
                    <a:pt x="3015535" y="0"/>
                  </a:lnTo>
                  <a:lnTo>
                    <a:pt x="3015535" y="471701"/>
                  </a:lnTo>
                  <a:lnTo>
                    <a:pt x="0" y="4717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015535" cy="519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32125" y="2796713"/>
            <a:ext cx="11283067" cy="13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81"/>
              </a:lnSpc>
            </a:pPr>
            <a:r>
              <a:rPr lang="en-US" b="true" sz="8684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INTRODUCCIÓN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-381233"/>
            <a:ext cx="1306415" cy="1409933"/>
            <a:chOff x="0" y="0"/>
            <a:chExt cx="476073" cy="5137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281735" y="9258300"/>
            <a:ext cx="3653828" cy="2430717"/>
            <a:chOff x="0" y="0"/>
            <a:chExt cx="962325" cy="6401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2325" cy="640189"/>
            </a:xfrm>
            <a:custGeom>
              <a:avLst/>
              <a:gdLst/>
              <a:ahLst/>
              <a:cxnLst/>
              <a:rect r="r" b="b" t="t" l="l"/>
              <a:pathLst>
                <a:path h="640189" w="962325">
                  <a:moveTo>
                    <a:pt x="0" y="0"/>
                  </a:moveTo>
                  <a:lnTo>
                    <a:pt x="962325" y="0"/>
                  </a:lnTo>
                  <a:lnTo>
                    <a:pt x="962325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62325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832125" y="4817169"/>
            <a:ext cx="11449610" cy="396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D</a:t>
            </a:r>
            <a:r>
              <a:rPr lang="en-US" sz="2799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esarrollar una aplicación en Python que permita gestionar información sobre países, aplicando listas, diccionarios, funciones, estructuras condicionales y repetitivas, ordenamientos y estadísticas. El sistema debe ser capaz de leer datos desde un archivo CSV, realizar consultas y generar indicadores clave a partir del dataset. . El objetivo principal es afianzar el uso de estructuras de datos, modularización con funciones y técnicas de filtrado/ordenamiento, aplicando los conceptos aprendidos en Programación 1.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48500" y="741664"/>
            <a:ext cx="204131" cy="1145622"/>
            <a:chOff x="0" y="0"/>
            <a:chExt cx="272175" cy="152749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5400000">
            <a:off x="16433772" y="9184851"/>
            <a:ext cx="204131" cy="1145622"/>
            <a:chOff x="0" y="0"/>
            <a:chExt cx="272175" cy="152749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14517831" y="2711007"/>
            <a:ext cx="1445195" cy="1445195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4615537" y="2808713"/>
            <a:ext cx="1249784" cy="1249784"/>
          </a:xfrm>
          <a:custGeom>
            <a:avLst/>
            <a:gdLst/>
            <a:ahLst/>
            <a:cxnLst/>
            <a:rect r="r" b="b" t="t" l="l"/>
            <a:pathLst>
              <a:path h="1249784" w="1249784">
                <a:moveTo>
                  <a:pt x="0" y="0"/>
                </a:moveTo>
                <a:lnTo>
                  <a:pt x="1249784" y="0"/>
                </a:lnTo>
                <a:lnTo>
                  <a:pt x="1249784" y="1249784"/>
                </a:lnTo>
                <a:lnTo>
                  <a:pt x="0" y="1249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9068" y="2810580"/>
            <a:ext cx="7968313" cy="1707946"/>
            <a:chOff x="0" y="0"/>
            <a:chExt cx="2629376" cy="5635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9377" cy="563586"/>
            </a:xfrm>
            <a:custGeom>
              <a:avLst/>
              <a:gdLst/>
              <a:ahLst/>
              <a:cxnLst/>
              <a:rect r="r" b="b" t="t" l="l"/>
              <a:pathLst>
                <a:path h="563586" w="2629377">
                  <a:moveTo>
                    <a:pt x="0" y="0"/>
                  </a:moveTo>
                  <a:lnTo>
                    <a:pt x="2629377" y="0"/>
                  </a:lnTo>
                  <a:lnTo>
                    <a:pt x="2629377" y="563586"/>
                  </a:lnTo>
                  <a:lnTo>
                    <a:pt x="0" y="5635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EDED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29376" cy="611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993077" y="-6535153"/>
            <a:ext cx="3086100" cy="12041606"/>
            <a:chOff x="0" y="0"/>
            <a:chExt cx="812800" cy="31714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77715" y="9258300"/>
            <a:ext cx="1306415" cy="1409933"/>
            <a:chOff x="0" y="0"/>
            <a:chExt cx="476073" cy="5137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889506" y="9258300"/>
            <a:ext cx="4046056" cy="2430717"/>
            <a:chOff x="0" y="0"/>
            <a:chExt cx="1065628" cy="6401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5628" cy="640189"/>
            </a:xfrm>
            <a:custGeom>
              <a:avLst/>
              <a:gdLst/>
              <a:ahLst/>
              <a:cxnLst/>
              <a:rect r="r" b="b" t="t" l="l"/>
              <a:pathLst>
                <a:path h="640189" w="1065628">
                  <a:moveTo>
                    <a:pt x="0" y="0"/>
                  </a:moveTo>
                  <a:lnTo>
                    <a:pt x="1065628" y="0"/>
                  </a:lnTo>
                  <a:lnTo>
                    <a:pt x="1065628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65628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56373" y="1028700"/>
            <a:ext cx="6656162" cy="7719283"/>
            <a:chOff x="0" y="0"/>
            <a:chExt cx="1031214" cy="11959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1214" cy="1195919"/>
            </a:xfrm>
            <a:custGeom>
              <a:avLst/>
              <a:gdLst/>
              <a:ahLst/>
              <a:cxnLst/>
              <a:rect r="r" b="b" t="t" l="l"/>
              <a:pathLst>
                <a:path h="1195919" w="1031214">
                  <a:moveTo>
                    <a:pt x="0" y="0"/>
                  </a:moveTo>
                  <a:lnTo>
                    <a:pt x="1031214" y="0"/>
                  </a:lnTo>
                  <a:lnTo>
                    <a:pt x="1031214" y="1195919"/>
                  </a:lnTo>
                  <a:lnTo>
                    <a:pt x="0" y="1195919"/>
                  </a:lnTo>
                  <a:close/>
                </a:path>
              </a:pathLst>
            </a:custGeom>
            <a:blipFill>
              <a:blip r:embed="rId2"/>
              <a:stretch>
                <a:fillRect l="-36978" t="0" r="-36978" b="0"/>
              </a:stretch>
            </a:blipFill>
            <a:ln w="85725" cap="sq">
              <a:solidFill>
                <a:srgbClr val="EDEDED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-5400000">
            <a:off x="1239612" y="-1000"/>
            <a:ext cx="204131" cy="1145622"/>
            <a:chOff x="0" y="0"/>
            <a:chExt cx="272175" cy="152749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5400000">
            <a:off x="16765398" y="9206655"/>
            <a:ext cx="204131" cy="1145622"/>
            <a:chOff x="0" y="0"/>
            <a:chExt cx="272175" cy="152749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36" id="36"/>
          <p:cNvSpPr txBox="true"/>
          <p:nvPr/>
        </p:nvSpPr>
        <p:spPr>
          <a:xfrm rot="0">
            <a:off x="1379068" y="3036068"/>
            <a:ext cx="7968313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0"/>
              </a:lnSpc>
            </a:pPr>
            <a:r>
              <a:rPr lang="en-US" b="true" sz="80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TEMA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41677" y="4912169"/>
            <a:ext cx="8005703" cy="198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G</a:t>
            </a:r>
            <a:r>
              <a:rPr lang="en-US" sz="27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estión de países con Python. Un sistema interactivo para administrar información geográfica y demográfica usando programación modular y archivos CSV.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57737" y="4044178"/>
            <a:ext cx="6933348" cy="11669292"/>
            <a:chOff x="0" y="0"/>
            <a:chExt cx="1826067" cy="30733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6067" cy="3073394"/>
            </a:xfrm>
            <a:custGeom>
              <a:avLst/>
              <a:gdLst/>
              <a:ahLst/>
              <a:cxnLst/>
              <a:rect r="r" b="b" t="t" l="l"/>
              <a:pathLst>
                <a:path h="3073394" w="1826067">
                  <a:moveTo>
                    <a:pt x="0" y="0"/>
                  </a:moveTo>
                  <a:lnTo>
                    <a:pt x="1826067" y="0"/>
                  </a:lnTo>
                  <a:lnTo>
                    <a:pt x="1826067" y="3073394"/>
                  </a:lnTo>
                  <a:lnTo>
                    <a:pt x="0" y="3073394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26067" cy="3121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54029" y="4044178"/>
            <a:ext cx="6933348" cy="11669292"/>
            <a:chOff x="0" y="0"/>
            <a:chExt cx="1826067" cy="30733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6067" cy="3073394"/>
            </a:xfrm>
            <a:custGeom>
              <a:avLst/>
              <a:gdLst/>
              <a:ahLst/>
              <a:cxnLst/>
              <a:rect r="r" b="b" t="t" l="l"/>
              <a:pathLst>
                <a:path h="3073394" w="1826067">
                  <a:moveTo>
                    <a:pt x="0" y="0"/>
                  </a:moveTo>
                  <a:lnTo>
                    <a:pt x="1826067" y="0"/>
                  </a:lnTo>
                  <a:lnTo>
                    <a:pt x="1826067" y="3073394"/>
                  </a:lnTo>
                  <a:lnTo>
                    <a:pt x="0" y="3073394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6067" cy="3121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00624" y="1486460"/>
            <a:ext cx="14486752" cy="2012941"/>
            <a:chOff x="0" y="0"/>
            <a:chExt cx="3815441" cy="5301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5441" cy="530157"/>
            </a:xfrm>
            <a:custGeom>
              <a:avLst/>
              <a:gdLst/>
              <a:ahLst/>
              <a:cxnLst/>
              <a:rect r="r" b="b" t="t" l="l"/>
              <a:pathLst>
                <a:path h="530157" w="3815441">
                  <a:moveTo>
                    <a:pt x="0" y="0"/>
                  </a:moveTo>
                  <a:lnTo>
                    <a:pt x="3815441" y="0"/>
                  </a:lnTo>
                  <a:lnTo>
                    <a:pt x="3815441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815441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10149" y="1795458"/>
            <a:ext cx="14486752" cy="134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8"/>
              </a:lnSpc>
            </a:pPr>
            <a:r>
              <a:rPr lang="en-US" b="true" sz="8771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MARCO TEÓRICO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57583" y="5405567"/>
            <a:ext cx="580284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estructura que almacena múltiples elementos ordenados.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34794" y="4996754"/>
            <a:ext cx="5771817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controlan el flujo lógico según decisiones del usuario.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31283" y="4725990"/>
            <a:ext cx="5829144" cy="4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3567"/>
              </a:lnSpc>
              <a:buFont typeface="Arial"/>
              <a:buChar char="•"/>
            </a:pPr>
            <a:r>
              <a:rPr lang="en-US" b="true" sz="2900" u="sng">
                <a:solidFill>
                  <a:srgbClr val="EDEDE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Listas: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34794" y="4307652"/>
            <a:ext cx="5771817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3" indent="-291467" lvl="1">
              <a:lnSpc>
                <a:spcPts val="3321"/>
              </a:lnSpc>
              <a:buFont typeface="Arial"/>
              <a:buChar char="•"/>
            </a:pPr>
            <a:r>
              <a:rPr lang="en-US" b="true" sz="2700" u="sng">
                <a:solidFill>
                  <a:srgbClr val="EDEDE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Condicionales: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44433" y="6494592"/>
            <a:ext cx="5829144" cy="4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3567"/>
              </a:lnSpc>
              <a:buFont typeface="Arial"/>
              <a:buChar char="•"/>
            </a:pPr>
            <a:r>
              <a:rPr lang="en-US" b="true" sz="2900" u="sng">
                <a:solidFill>
                  <a:srgbClr val="EDEDE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Diccionarios: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70733" y="7177344"/>
            <a:ext cx="580284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p</a:t>
            </a:r>
            <a:r>
              <a:rPr lang="en-US" sz="20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ermiten representar cada país con claves como "nombre", "poblacion", etc.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31283" y="8390951"/>
            <a:ext cx="5829144" cy="4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3567"/>
              </a:lnSpc>
              <a:buFont typeface="Arial"/>
              <a:buChar char="•"/>
            </a:pPr>
            <a:r>
              <a:rPr lang="en-US" b="true" sz="2900" u="sng">
                <a:solidFill>
                  <a:srgbClr val="EDEDE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Funciones: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14696" y="9073703"/>
            <a:ext cx="580284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o</a:t>
            </a:r>
            <a:r>
              <a:rPr lang="en-US" sz="20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rganizan el código en bloques reutilizables.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34794" y="6323396"/>
            <a:ext cx="5771817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se usa s</a:t>
            </a:r>
            <a:r>
              <a:rPr lang="en-US" sz="18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orted() para organizar países por distintos criterios.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34794" y="5634294"/>
            <a:ext cx="5771817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3" indent="-291467" lvl="1">
              <a:lnSpc>
                <a:spcPts val="3321"/>
              </a:lnSpc>
              <a:buFont typeface="Arial"/>
              <a:buChar char="•"/>
            </a:pPr>
            <a:r>
              <a:rPr lang="en-US" b="true" sz="2700" u="sng">
                <a:solidFill>
                  <a:srgbClr val="EDEDE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Ordenamientos: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34794" y="7983412"/>
            <a:ext cx="5771817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se </a:t>
            </a:r>
            <a:r>
              <a:rPr lang="en-US" sz="18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calculan promedios, máximos y mínimos.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34794" y="7294311"/>
            <a:ext cx="5771817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3" indent="-291467" lvl="1">
              <a:lnSpc>
                <a:spcPts val="3321"/>
              </a:lnSpc>
              <a:buFont typeface="Arial"/>
              <a:buChar char="•"/>
            </a:pPr>
            <a:r>
              <a:rPr lang="en-US" b="true" sz="2700" u="sng">
                <a:solidFill>
                  <a:srgbClr val="EDEDE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Estadísticas básicas: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34794" y="8620952"/>
            <a:ext cx="5829144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3" indent="-291467" lvl="1">
              <a:lnSpc>
                <a:spcPts val="3321"/>
              </a:lnSpc>
              <a:buFont typeface="Arial"/>
              <a:buChar char="•"/>
            </a:pPr>
            <a:r>
              <a:rPr lang="en-US" b="true" sz="2700" u="sng">
                <a:solidFill>
                  <a:srgbClr val="EDEDE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Archivos CSV: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18208" y="9313229"/>
            <a:ext cx="5802843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se lee</a:t>
            </a:r>
            <a:r>
              <a:rPr lang="en-US" sz="18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n y escriben datos persistentes con csv.DictReader y csv.DictWriter.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5664779" y="1756239"/>
            <a:ext cx="1445195" cy="144519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5762484" y="1853945"/>
            <a:ext cx="1249784" cy="1249784"/>
          </a:xfrm>
          <a:custGeom>
            <a:avLst/>
            <a:gdLst/>
            <a:ahLst/>
            <a:cxnLst/>
            <a:rect r="r" b="b" t="t" l="l"/>
            <a:pathLst>
              <a:path h="1249784" w="1249784">
                <a:moveTo>
                  <a:pt x="0" y="0"/>
                </a:moveTo>
                <a:lnTo>
                  <a:pt x="1249784" y="0"/>
                </a:lnTo>
                <a:lnTo>
                  <a:pt x="1249784" y="1249784"/>
                </a:lnTo>
                <a:lnTo>
                  <a:pt x="0" y="1249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8432" y="2585393"/>
            <a:ext cx="11693607" cy="1863151"/>
            <a:chOff x="0" y="0"/>
            <a:chExt cx="3555329" cy="5664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55329" cy="566473"/>
            </a:xfrm>
            <a:custGeom>
              <a:avLst/>
              <a:gdLst/>
              <a:ahLst/>
              <a:cxnLst/>
              <a:rect r="r" b="b" t="t" l="l"/>
              <a:pathLst>
                <a:path h="566473" w="3555329">
                  <a:moveTo>
                    <a:pt x="0" y="0"/>
                  </a:moveTo>
                  <a:lnTo>
                    <a:pt x="3555329" y="0"/>
                  </a:lnTo>
                  <a:lnTo>
                    <a:pt x="3555329" y="566473"/>
                  </a:lnTo>
                  <a:lnTo>
                    <a:pt x="0" y="5664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EDED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555329" cy="614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96520" y="2849208"/>
            <a:ext cx="12217432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b="true" sz="8575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OBJETIVO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-381233"/>
            <a:ext cx="1306415" cy="1409933"/>
            <a:chOff x="0" y="0"/>
            <a:chExt cx="476073" cy="5137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851253" y="9409711"/>
            <a:ext cx="4046056" cy="2430717"/>
            <a:chOff x="0" y="0"/>
            <a:chExt cx="1065628" cy="6401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5628" cy="640189"/>
            </a:xfrm>
            <a:custGeom>
              <a:avLst/>
              <a:gdLst/>
              <a:ahLst/>
              <a:cxnLst/>
              <a:rect r="r" b="b" t="t" l="l"/>
              <a:pathLst>
                <a:path h="640189" w="1065628">
                  <a:moveTo>
                    <a:pt x="0" y="0"/>
                  </a:moveTo>
                  <a:lnTo>
                    <a:pt x="1065628" y="0"/>
                  </a:lnTo>
                  <a:lnTo>
                    <a:pt x="1065628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65628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754563" y="4762039"/>
            <a:ext cx="13093851" cy="339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2"/>
              </a:lnSpc>
              <a:spcBef>
                <a:spcPct val="0"/>
              </a:spcBef>
            </a:pPr>
            <a:r>
              <a:rPr lang="en-US" sz="3202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D</a:t>
            </a:r>
            <a:r>
              <a:rPr lang="en-US" sz="3202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esarrollar un programa interactivo que permita:</a:t>
            </a:r>
          </a:p>
          <a:p>
            <a:pPr algn="just" marL="691327" indent="-345663" lvl="1">
              <a:lnSpc>
                <a:spcPts val="4482"/>
              </a:lnSpc>
              <a:spcBef>
                <a:spcPct val="0"/>
              </a:spcBef>
              <a:buFont typeface="Arial"/>
              <a:buChar char="•"/>
            </a:pPr>
            <a:r>
              <a:rPr lang="en-US" sz="3202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Registrar países con sus datos principales.</a:t>
            </a:r>
          </a:p>
          <a:p>
            <a:pPr algn="just" marL="691327" indent="-345663" lvl="1">
              <a:lnSpc>
                <a:spcPts val="4482"/>
              </a:lnSpc>
              <a:spcBef>
                <a:spcPct val="0"/>
              </a:spcBef>
              <a:buFont typeface="Arial"/>
              <a:buChar char="•"/>
            </a:pPr>
            <a:r>
              <a:rPr lang="en-US" sz="3202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Buscar, filtrar y ordenar países.</a:t>
            </a:r>
          </a:p>
          <a:p>
            <a:pPr algn="just" marL="691327" indent="-345663" lvl="1">
              <a:lnSpc>
                <a:spcPts val="4482"/>
              </a:lnSpc>
              <a:spcBef>
                <a:spcPct val="0"/>
              </a:spcBef>
              <a:buFont typeface="Arial"/>
              <a:buChar char="•"/>
            </a:pPr>
            <a:r>
              <a:rPr lang="en-US" sz="3202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Calcular estadísticas demográficas.</a:t>
            </a:r>
          </a:p>
          <a:p>
            <a:pPr algn="just" marL="691327" indent="-345663" lvl="1">
              <a:lnSpc>
                <a:spcPts val="4482"/>
              </a:lnSpc>
              <a:spcBef>
                <a:spcPct val="0"/>
              </a:spcBef>
              <a:buFont typeface="Arial"/>
              <a:buChar char="•"/>
            </a:pPr>
            <a:r>
              <a:rPr lang="en-US" sz="3202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Guardar y recuperar información desde archivos CSV.</a:t>
            </a:r>
          </a:p>
          <a:p>
            <a:pPr algn="just">
              <a:lnSpc>
                <a:spcPts val="4482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/>
          <p:nvPr/>
        </p:nvGrpSpPr>
        <p:grpSpPr>
          <a:xfrm rot="-10800000">
            <a:off x="571692" y="715484"/>
            <a:ext cx="204131" cy="1145622"/>
            <a:chOff x="0" y="0"/>
            <a:chExt cx="272175" cy="152749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5400000">
            <a:off x="16765398" y="9206655"/>
            <a:ext cx="204131" cy="1145622"/>
            <a:chOff x="0" y="0"/>
            <a:chExt cx="272175" cy="152749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14524380" y="2770552"/>
            <a:ext cx="1445195" cy="1445195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4622086" y="2868258"/>
            <a:ext cx="1249784" cy="1249784"/>
          </a:xfrm>
          <a:custGeom>
            <a:avLst/>
            <a:gdLst/>
            <a:ahLst/>
            <a:cxnLst/>
            <a:rect r="r" b="b" t="t" l="l"/>
            <a:pathLst>
              <a:path h="1249784" w="1249784">
                <a:moveTo>
                  <a:pt x="0" y="0"/>
                </a:moveTo>
                <a:lnTo>
                  <a:pt x="1249784" y="0"/>
                </a:lnTo>
                <a:lnTo>
                  <a:pt x="1249784" y="1249784"/>
                </a:lnTo>
                <a:lnTo>
                  <a:pt x="0" y="1249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7241632" y="678285"/>
            <a:ext cx="3086100" cy="20246131"/>
            <a:chOff x="0" y="0"/>
            <a:chExt cx="812800" cy="5332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5332314"/>
            </a:xfrm>
            <a:custGeom>
              <a:avLst/>
              <a:gdLst/>
              <a:ahLst/>
              <a:cxnLst/>
              <a:rect r="r" b="b" t="t" l="l"/>
              <a:pathLst>
                <a:path h="533231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5332314"/>
                  </a:lnTo>
                  <a:lnTo>
                    <a:pt x="0" y="5332314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5379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9378" y="730238"/>
            <a:ext cx="15709245" cy="2012941"/>
            <a:chOff x="0" y="0"/>
            <a:chExt cx="4137414" cy="5301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37415" cy="530157"/>
            </a:xfrm>
            <a:custGeom>
              <a:avLst/>
              <a:gdLst/>
              <a:ahLst/>
              <a:cxnLst/>
              <a:rect r="r" b="b" t="t" l="l"/>
              <a:pathLst>
                <a:path h="530157" w="4137415">
                  <a:moveTo>
                    <a:pt x="0" y="0"/>
                  </a:moveTo>
                  <a:lnTo>
                    <a:pt x="4137415" y="0"/>
                  </a:lnTo>
                  <a:lnTo>
                    <a:pt x="4137415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37414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89378" y="1053330"/>
            <a:ext cx="15709245" cy="113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6"/>
              </a:lnSpc>
            </a:pPr>
            <a:r>
              <a:rPr lang="en-US" b="true" sz="7371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DISEÑO DEL CASO PRÁCTICO</a:t>
            </a:r>
          </a:p>
        </p:txBody>
      </p:sp>
      <p:grpSp>
        <p:nvGrpSpPr>
          <p:cNvPr name="Group 9" id="9"/>
          <p:cNvGrpSpPr/>
          <p:nvPr/>
        </p:nvGrpSpPr>
        <p:grpSpPr>
          <a:xfrm rot="5400000">
            <a:off x="17157234" y="9233841"/>
            <a:ext cx="204131" cy="1145622"/>
            <a:chOff x="0" y="0"/>
            <a:chExt cx="272175" cy="152749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4653208" y="2861961"/>
            <a:ext cx="7658061" cy="6181195"/>
            <a:chOff x="0" y="0"/>
            <a:chExt cx="1007001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7001" cy="812800"/>
            </a:xfrm>
            <a:custGeom>
              <a:avLst/>
              <a:gdLst/>
              <a:ahLst/>
              <a:cxnLst/>
              <a:rect r="r" b="b" t="t" l="l"/>
              <a:pathLst>
                <a:path h="812800" w="1007001">
                  <a:moveTo>
                    <a:pt x="23252" y="0"/>
                  </a:moveTo>
                  <a:lnTo>
                    <a:pt x="983750" y="0"/>
                  </a:lnTo>
                  <a:cubicBezTo>
                    <a:pt x="989916" y="0"/>
                    <a:pt x="995830" y="2450"/>
                    <a:pt x="1000191" y="6810"/>
                  </a:cubicBezTo>
                  <a:cubicBezTo>
                    <a:pt x="1004552" y="11171"/>
                    <a:pt x="1007001" y="17085"/>
                    <a:pt x="1007001" y="23252"/>
                  </a:cubicBezTo>
                  <a:lnTo>
                    <a:pt x="1007001" y="789548"/>
                  </a:lnTo>
                  <a:cubicBezTo>
                    <a:pt x="1007001" y="795715"/>
                    <a:pt x="1004552" y="801629"/>
                    <a:pt x="1000191" y="805990"/>
                  </a:cubicBezTo>
                  <a:cubicBezTo>
                    <a:pt x="995830" y="810350"/>
                    <a:pt x="989916" y="812800"/>
                    <a:pt x="983750" y="812800"/>
                  </a:cubicBezTo>
                  <a:lnTo>
                    <a:pt x="23252" y="812800"/>
                  </a:lnTo>
                  <a:cubicBezTo>
                    <a:pt x="17085" y="812800"/>
                    <a:pt x="11171" y="810350"/>
                    <a:pt x="6810" y="805990"/>
                  </a:cubicBezTo>
                  <a:cubicBezTo>
                    <a:pt x="2450" y="801629"/>
                    <a:pt x="0" y="795715"/>
                    <a:pt x="0" y="789548"/>
                  </a:cubicBezTo>
                  <a:lnTo>
                    <a:pt x="0" y="23252"/>
                  </a:lnTo>
                  <a:cubicBezTo>
                    <a:pt x="0" y="17085"/>
                    <a:pt x="2450" y="11171"/>
                    <a:pt x="6810" y="6810"/>
                  </a:cubicBezTo>
                  <a:cubicBezTo>
                    <a:pt x="11171" y="2450"/>
                    <a:pt x="17085" y="0"/>
                    <a:pt x="23252" y="0"/>
                  </a:cubicBezTo>
                  <a:close/>
                </a:path>
              </a:pathLst>
            </a:custGeom>
            <a:blipFill>
              <a:blip r:embed="rId2"/>
              <a:stretch>
                <a:fillRect l="-105" t="0" r="-105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386916" y="1014111"/>
            <a:ext cx="1445195" cy="144519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6484622" y="1111817"/>
            <a:ext cx="1249784" cy="1249784"/>
          </a:xfrm>
          <a:custGeom>
            <a:avLst/>
            <a:gdLst/>
            <a:ahLst/>
            <a:cxnLst/>
            <a:rect r="r" b="b" t="t" l="l"/>
            <a:pathLst>
              <a:path h="1249784" w="1249784">
                <a:moveTo>
                  <a:pt x="0" y="0"/>
                </a:moveTo>
                <a:lnTo>
                  <a:pt x="1249784" y="0"/>
                </a:lnTo>
                <a:lnTo>
                  <a:pt x="1249784" y="1249784"/>
                </a:lnTo>
                <a:lnTo>
                  <a:pt x="0" y="1249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2344" y="1125764"/>
            <a:ext cx="15709245" cy="2012941"/>
            <a:chOff x="0" y="0"/>
            <a:chExt cx="4137414" cy="530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7415" cy="530157"/>
            </a:xfrm>
            <a:custGeom>
              <a:avLst/>
              <a:gdLst/>
              <a:ahLst/>
              <a:cxnLst/>
              <a:rect r="r" b="b" t="t" l="l"/>
              <a:pathLst>
                <a:path h="530157" w="4137415">
                  <a:moveTo>
                    <a:pt x="0" y="0"/>
                  </a:moveTo>
                  <a:lnTo>
                    <a:pt x="4137415" y="0"/>
                  </a:lnTo>
                  <a:lnTo>
                    <a:pt x="4137415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37414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32344" y="4145140"/>
            <a:ext cx="3525511" cy="837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785" indent="-308393" lvl="1">
              <a:lnSpc>
                <a:spcPts val="3285"/>
              </a:lnSpc>
              <a:buFont typeface="Arial"/>
              <a:buChar char="•"/>
            </a:pPr>
            <a:r>
              <a:rPr lang="en-US" b="true" sz="2856">
                <a:solidFill>
                  <a:srgbClr val="191C59"/>
                </a:solidFill>
                <a:latin typeface="Mardoto Bold"/>
                <a:ea typeface="Mardoto Bold"/>
                <a:cs typeface="Mardoto Bold"/>
                <a:sym typeface="Mardoto Bold"/>
              </a:rPr>
              <a:t>Programación modular: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81904" y="4222642"/>
            <a:ext cx="4094879" cy="417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197" indent="-297599" lvl="1">
              <a:lnSpc>
                <a:spcPts val="3170"/>
              </a:lnSpc>
              <a:buFont typeface="Arial"/>
              <a:buChar char="•"/>
            </a:pPr>
            <a:r>
              <a:rPr lang="en-US" b="true" sz="2756">
                <a:solidFill>
                  <a:srgbClr val="191C59"/>
                </a:solidFill>
                <a:latin typeface="Mardoto Bold"/>
                <a:ea typeface="Mardoto Bold"/>
                <a:cs typeface="Mardoto Bold"/>
                <a:sym typeface="Mardoto Bold"/>
              </a:rPr>
              <a:t>Validación de datos: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31339" y="4268691"/>
            <a:ext cx="3912548" cy="81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197" indent="-297599" lvl="1">
              <a:lnSpc>
                <a:spcPts val="3170"/>
              </a:lnSpc>
              <a:buFont typeface="Arial"/>
              <a:buChar char="•"/>
            </a:pPr>
            <a:r>
              <a:rPr lang="en-US" b="true" sz="2756">
                <a:solidFill>
                  <a:srgbClr val="191C59"/>
                </a:solidFill>
                <a:latin typeface="Mardoto Bold"/>
                <a:ea typeface="Mardoto Bold"/>
                <a:cs typeface="Mardoto Bold"/>
                <a:sym typeface="Mardoto Bold"/>
              </a:rPr>
              <a:t>Normalización de texto: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92671" y="7058370"/>
            <a:ext cx="4324232" cy="417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197" indent="-297599" lvl="1">
              <a:lnSpc>
                <a:spcPts val="3170"/>
              </a:lnSpc>
              <a:buFont typeface="Arial"/>
              <a:buChar char="•"/>
            </a:pPr>
            <a:r>
              <a:rPr lang="en-US" b="true" sz="2756">
                <a:solidFill>
                  <a:srgbClr val="191C59"/>
                </a:solidFill>
                <a:latin typeface="Mardoto Bold"/>
                <a:ea typeface="Mardoto Bold"/>
                <a:cs typeface="Mardoto Bold"/>
                <a:sym typeface="Mardoto Bold"/>
              </a:rPr>
              <a:t>Persistencia de datos: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84684" y="6942117"/>
            <a:ext cx="3777682" cy="417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197" indent="-297599" lvl="1">
              <a:lnSpc>
                <a:spcPts val="3170"/>
              </a:lnSpc>
              <a:buFont typeface="Arial"/>
              <a:buChar char="•"/>
            </a:pPr>
            <a:r>
              <a:rPr lang="en-US" b="true" sz="2756">
                <a:solidFill>
                  <a:srgbClr val="191C59"/>
                </a:solidFill>
                <a:latin typeface="Mardoto Bold"/>
                <a:ea typeface="Mardoto Bold"/>
                <a:cs typeface="Mardoto Bold"/>
                <a:sym typeface="Mardoto Bold"/>
              </a:rPr>
              <a:t>Pruebas manuales: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2385" y="4995837"/>
            <a:ext cx="3261436" cy="905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4"/>
              </a:lnSpc>
              <a:spcBef>
                <a:spcPct val="0"/>
              </a:spcBef>
            </a:pPr>
            <a:r>
              <a:rPr lang="en-US" sz="2595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cada función realiza una tarea específica.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89445" y="7642653"/>
            <a:ext cx="3827458" cy="86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  <a:spcBef>
                <a:spcPct val="0"/>
              </a:spcBef>
            </a:pPr>
            <a:r>
              <a:rPr lang="en-US" sz="2495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se usa CSV para guardar los cambios realizados.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92887" y="4719676"/>
            <a:ext cx="3209658" cy="129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  <a:spcBef>
                <a:spcPct val="0"/>
              </a:spcBef>
            </a:pPr>
            <a:r>
              <a:rPr lang="en-US" sz="2497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se verifica que los valores ingresados sean correctos.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02545" y="7552243"/>
            <a:ext cx="3846391" cy="129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  <a:spcBef>
                <a:spcPct val="0"/>
              </a:spcBef>
            </a:pPr>
            <a:r>
              <a:rPr lang="en-US" sz="2495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se </a:t>
            </a:r>
            <a:r>
              <a:rPr lang="en-US" sz="2495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realizaron pruebas con distintos casos para verificar el funcionamiento.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97595" y="5095875"/>
            <a:ext cx="3446293" cy="129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  <a:spcBef>
                <a:spcPct val="0"/>
              </a:spcBef>
            </a:pPr>
            <a:r>
              <a:rPr lang="en-US" sz="2497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s</a:t>
            </a:r>
            <a:r>
              <a:rPr lang="en-US" sz="2497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e ignoran acentos y mayúsculas para mejorar la búsqueda.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2344" y="1448856"/>
            <a:ext cx="15709245" cy="122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4"/>
              </a:lnSpc>
            </a:pPr>
            <a:r>
              <a:rPr lang="en-US" b="true" sz="7971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METODOLOGÍA UTILIZADA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118991" y="1409637"/>
            <a:ext cx="1445195" cy="144519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216697" y="1507343"/>
            <a:ext cx="1249784" cy="1249784"/>
          </a:xfrm>
          <a:custGeom>
            <a:avLst/>
            <a:gdLst/>
            <a:ahLst/>
            <a:cxnLst/>
            <a:rect r="r" b="b" t="t" l="l"/>
            <a:pathLst>
              <a:path h="1249784" w="1249784">
                <a:moveTo>
                  <a:pt x="0" y="0"/>
                </a:moveTo>
                <a:lnTo>
                  <a:pt x="1249783" y="0"/>
                </a:lnTo>
                <a:lnTo>
                  <a:pt x="1249783" y="1249784"/>
                </a:lnTo>
                <a:lnTo>
                  <a:pt x="0" y="1249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72078" y="3241577"/>
            <a:ext cx="1426381" cy="1113774"/>
            <a:chOff x="0" y="0"/>
            <a:chExt cx="678958" cy="530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20324" y="3331345"/>
            <a:ext cx="2087141" cy="91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8"/>
              </a:lnSpc>
            </a:pPr>
            <a:r>
              <a:rPr lang="en-US" b="true" sz="6014" spc="330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52849" y="4524283"/>
            <a:ext cx="5032534" cy="42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6"/>
              </a:lnSpc>
              <a:spcBef>
                <a:spcPct val="0"/>
              </a:spcBef>
            </a:pPr>
            <a:r>
              <a:rPr lang="en-US" sz="2497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P</a:t>
            </a:r>
            <a:r>
              <a:rPr lang="en-US" sz="2497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rograma funcional y robusto.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693452" y="5163564"/>
            <a:ext cx="1426381" cy="1113774"/>
            <a:chOff x="0" y="0"/>
            <a:chExt cx="678958" cy="5301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341698" y="5253332"/>
            <a:ext cx="2087141" cy="91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8"/>
              </a:lnSpc>
            </a:pPr>
            <a:r>
              <a:rPr lang="en-US" b="true" sz="6014" spc="330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20883" y="6446270"/>
            <a:ext cx="6300052" cy="42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6"/>
              </a:lnSpc>
              <a:spcBef>
                <a:spcPct val="0"/>
              </a:spcBef>
            </a:pPr>
            <a:r>
              <a:rPr lang="en-US" sz="2497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Pe</a:t>
            </a:r>
            <a:r>
              <a:rPr lang="en-US" sz="2497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rmite gestionar países de forma flexible.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672078" y="7085551"/>
            <a:ext cx="1426381" cy="1113774"/>
            <a:chOff x="0" y="0"/>
            <a:chExt cx="678958" cy="5301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320324" y="7175319"/>
            <a:ext cx="2087141" cy="91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8"/>
              </a:lnSpc>
            </a:pPr>
            <a:r>
              <a:rPr lang="en-US" b="true" sz="6014" spc="330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52849" y="8357755"/>
            <a:ext cx="6202578" cy="86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6"/>
              </a:lnSpc>
              <a:spcBef>
                <a:spcPct val="0"/>
              </a:spcBef>
            </a:pPr>
            <a:r>
              <a:rPr lang="en-US" sz="2497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O</a:t>
            </a:r>
            <a:r>
              <a:rPr lang="en-US" sz="2497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rdena y filtra correctamente por distintos criterios.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391863" y="3795698"/>
            <a:ext cx="1426381" cy="1113774"/>
            <a:chOff x="0" y="0"/>
            <a:chExt cx="678958" cy="5301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040109" y="3885466"/>
            <a:ext cx="2087141" cy="91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8"/>
              </a:lnSpc>
            </a:pPr>
            <a:r>
              <a:rPr lang="en-US" b="true" sz="6014" spc="330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40668" y="5067903"/>
            <a:ext cx="5058856" cy="86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6"/>
              </a:lnSpc>
              <a:spcBef>
                <a:spcPct val="0"/>
              </a:spcBef>
            </a:pPr>
            <a:r>
              <a:rPr lang="en-US" sz="2497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Calc</a:t>
            </a:r>
            <a:r>
              <a:rPr lang="en-US" sz="2497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ula estadísticas útiles como promedio de población y superficie.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10800000">
            <a:off x="16958223" y="-877303"/>
            <a:ext cx="3086100" cy="12041606"/>
            <a:chOff x="0" y="0"/>
            <a:chExt cx="812800" cy="31714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48500" y="741664"/>
            <a:ext cx="204131" cy="1145622"/>
            <a:chOff x="0" y="0"/>
            <a:chExt cx="272175" cy="1527496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17539248" y="8439068"/>
            <a:ext cx="204131" cy="1145622"/>
            <a:chOff x="0" y="0"/>
            <a:chExt cx="272175" cy="1527496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48" id="48"/>
          <p:cNvGrpSpPr/>
          <p:nvPr/>
        </p:nvGrpSpPr>
        <p:grpSpPr>
          <a:xfrm rot="0">
            <a:off x="10391863" y="6582617"/>
            <a:ext cx="1426381" cy="1113774"/>
            <a:chOff x="0" y="0"/>
            <a:chExt cx="678958" cy="53015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0040109" y="6672385"/>
            <a:ext cx="2087141" cy="91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8"/>
              </a:lnSpc>
            </a:pPr>
            <a:r>
              <a:rPr lang="en-US" b="true" sz="6014" spc="330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5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440668" y="7854822"/>
            <a:ext cx="5058856" cy="129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6"/>
              </a:lnSpc>
              <a:spcBef>
                <a:spcPct val="0"/>
              </a:spcBef>
            </a:pPr>
            <a:r>
              <a:rPr lang="en-US" sz="2497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G</a:t>
            </a:r>
            <a:r>
              <a:rPr lang="en-US" sz="2497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uarda los cambios en el archivo CSV para mantener la información actualizada.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889119" y="741664"/>
            <a:ext cx="14505852" cy="2012941"/>
            <a:chOff x="0" y="0"/>
            <a:chExt cx="3820471" cy="53015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820471" cy="530157"/>
            </a:xfrm>
            <a:custGeom>
              <a:avLst/>
              <a:gdLst/>
              <a:ahLst/>
              <a:cxnLst/>
              <a:rect r="r" b="b" t="t" l="l"/>
              <a:pathLst>
                <a:path h="530157" w="3820471">
                  <a:moveTo>
                    <a:pt x="0" y="0"/>
                  </a:moveTo>
                  <a:lnTo>
                    <a:pt x="3820471" y="0"/>
                  </a:lnTo>
                  <a:lnTo>
                    <a:pt x="3820471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3820471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602501" y="1213156"/>
            <a:ext cx="14505852" cy="104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05"/>
              </a:lnSpc>
            </a:pPr>
            <a:r>
              <a:rPr lang="en-US" b="true" sz="6671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RESULTADOS OBTENIDOS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5672374" y="1028700"/>
            <a:ext cx="1445195" cy="1445195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15770079" y="1126406"/>
            <a:ext cx="1249784" cy="1249784"/>
          </a:xfrm>
          <a:custGeom>
            <a:avLst/>
            <a:gdLst/>
            <a:ahLst/>
            <a:cxnLst/>
            <a:rect r="r" b="b" t="t" l="l"/>
            <a:pathLst>
              <a:path h="1249784" w="1249784">
                <a:moveTo>
                  <a:pt x="0" y="0"/>
                </a:moveTo>
                <a:lnTo>
                  <a:pt x="1249784" y="0"/>
                </a:lnTo>
                <a:lnTo>
                  <a:pt x="1249784" y="1249784"/>
                </a:lnTo>
                <a:lnTo>
                  <a:pt x="0" y="1249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94430" y="1602556"/>
            <a:ext cx="13499139" cy="2012941"/>
            <a:chOff x="0" y="0"/>
            <a:chExt cx="3555329" cy="530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55329" cy="530157"/>
            </a:xfrm>
            <a:custGeom>
              <a:avLst/>
              <a:gdLst/>
              <a:ahLst/>
              <a:cxnLst/>
              <a:rect r="r" b="b" t="t" l="l"/>
              <a:pathLst>
                <a:path h="530157" w="3555329">
                  <a:moveTo>
                    <a:pt x="0" y="0"/>
                  </a:moveTo>
                  <a:lnTo>
                    <a:pt x="3555329" y="0"/>
                  </a:lnTo>
                  <a:lnTo>
                    <a:pt x="3555329" y="530157"/>
                  </a:lnTo>
                  <a:lnTo>
                    <a:pt x="0" y="530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555329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92078" y="1939991"/>
            <a:ext cx="14103844" cy="135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3"/>
              </a:lnSpc>
            </a:pPr>
            <a:r>
              <a:rPr lang="en-US" b="true" sz="8799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CONCLUSIONES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92078" y="4285728"/>
            <a:ext cx="14248829" cy="497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4826" indent="-387413" lvl="1">
              <a:lnSpc>
                <a:spcPts val="4414"/>
              </a:lnSpc>
              <a:buFont typeface="Arial"/>
              <a:buChar char="•"/>
            </a:pPr>
            <a:r>
              <a:rPr lang="en-US" b="true" sz="3588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Aprendimos a trabajar con estructuras de datos complejas.</a:t>
            </a:r>
          </a:p>
          <a:p>
            <a:pPr algn="l" marL="774826" indent="-387413" lvl="1">
              <a:lnSpc>
                <a:spcPts val="4414"/>
              </a:lnSpc>
              <a:buFont typeface="Arial"/>
              <a:buChar char="•"/>
            </a:pPr>
            <a:r>
              <a:rPr lang="en-US" b="true" sz="3588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Mejoramos nuestras habilidades en validación, modularización y persistencia.</a:t>
            </a:r>
          </a:p>
          <a:p>
            <a:pPr algn="l" marL="774826" indent="-387413" lvl="1">
              <a:lnSpc>
                <a:spcPts val="4414"/>
              </a:lnSpc>
              <a:buFont typeface="Arial"/>
              <a:buChar char="•"/>
            </a:pPr>
            <a:r>
              <a:rPr lang="en-US" b="true" sz="3588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El trabajo en grupo permitió dividir tareas y colaborar eficientemente.</a:t>
            </a:r>
          </a:p>
          <a:p>
            <a:pPr algn="l" marL="774826" indent="-387413" lvl="1">
              <a:lnSpc>
                <a:spcPts val="4414"/>
              </a:lnSpc>
              <a:buFont typeface="Arial"/>
              <a:buChar char="•"/>
            </a:pPr>
            <a:r>
              <a:rPr lang="en-US" b="true" sz="3588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El proyecto es escalable y puede adaptarse a nuevos requerimientos (como interfaz gráfica o visualización de mapas).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170972" y="1886429"/>
            <a:ext cx="1445195" cy="144519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268678" y="1984135"/>
            <a:ext cx="1249784" cy="1249784"/>
          </a:xfrm>
          <a:custGeom>
            <a:avLst/>
            <a:gdLst/>
            <a:ahLst/>
            <a:cxnLst/>
            <a:rect r="r" b="b" t="t" l="l"/>
            <a:pathLst>
              <a:path h="1249784" w="1249784">
                <a:moveTo>
                  <a:pt x="0" y="0"/>
                </a:moveTo>
                <a:lnTo>
                  <a:pt x="1249784" y="0"/>
                </a:lnTo>
                <a:lnTo>
                  <a:pt x="1249784" y="1249784"/>
                </a:lnTo>
                <a:lnTo>
                  <a:pt x="0" y="1249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87657" y="2939291"/>
            <a:ext cx="12859537" cy="1920180"/>
            <a:chOff x="0" y="0"/>
            <a:chExt cx="4243378" cy="6336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43378" cy="633619"/>
            </a:xfrm>
            <a:custGeom>
              <a:avLst/>
              <a:gdLst/>
              <a:ahLst/>
              <a:cxnLst/>
              <a:rect r="r" b="b" t="t" l="l"/>
              <a:pathLst>
                <a:path h="633619" w="4243378">
                  <a:moveTo>
                    <a:pt x="0" y="0"/>
                  </a:moveTo>
                  <a:lnTo>
                    <a:pt x="4243378" y="0"/>
                  </a:lnTo>
                  <a:lnTo>
                    <a:pt x="4243378" y="633619"/>
                  </a:lnTo>
                  <a:lnTo>
                    <a:pt x="0" y="6336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EDED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243378" cy="681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26546" y="3249288"/>
            <a:ext cx="11743597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0"/>
              </a:lnSpc>
            </a:pPr>
            <a:r>
              <a:rPr lang="en-US" b="true" sz="80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REPOSITORIO GITHUB</a:t>
            </a:r>
          </a:p>
        </p:txBody>
      </p:sp>
      <p:grpSp>
        <p:nvGrpSpPr>
          <p:cNvPr name="Group 6" id="6"/>
          <p:cNvGrpSpPr/>
          <p:nvPr/>
        </p:nvGrpSpPr>
        <p:grpSpPr>
          <a:xfrm rot="5400000">
            <a:off x="1993077" y="-6535153"/>
            <a:ext cx="3086100" cy="12041606"/>
            <a:chOff x="0" y="0"/>
            <a:chExt cx="812800" cy="31714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277715" y="9258300"/>
            <a:ext cx="1306415" cy="1409933"/>
            <a:chOff x="0" y="0"/>
            <a:chExt cx="476073" cy="5137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889506" y="9258300"/>
            <a:ext cx="4046056" cy="2430717"/>
            <a:chOff x="0" y="0"/>
            <a:chExt cx="1065628" cy="6401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5628" cy="640189"/>
            </a:xfrm>
            <a:custGeom>
              <a:avLst/>
              <a:gdLst/>
              <a:ahLst/>
              <a:cxnLst/>
              <a:rect r="r" b="b" t="t" l="l"/>
              <a:pathLst>
                <a:path h="640189" w="1065628">
                  <a:moveTo>
                    <a:pt x="0" y="0"/>
                  </a:moveTo>
                  <a:lnTo>
                    <a:pt x="1065628" y="0"/>
                  </a:lnTo>
                  <a:lnTo>
                    <a:pt x="1065628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65628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126546" y="5229079"/>
            <a:ext cx="13785989" cy="446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R</a:t>
            </a:r>
            <a:r>
              <a:rPr lang="en-US" sz="27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epositorio: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u="sng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  <a:hlinkClick r:id="rId2" tooltip="https://github.com/facuescalante/UTN-TUPaD-Programacion1/tree/main/TPI-Prog1"/>
              </a:rPr>
              <a:t>https://github.com/facuescalante/UTN-TUPaD-Programacion1/tree/main/TPI-Prog1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Contenido:</a:t>
            </a:r>
          </a:p>
          <a:p>
            <a:pPr algn="just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paises.py: código completo y comentado</a:t>
            </a:r>
          </a:p>
          <a:p>
            <a:pPr algn="just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paises.csv: dataset base</a:t>
            </a:r>
          </a:p>
          <a:p>
            <a:pPr algn="just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README.md: incluye descripción, instrucciones, ejemplos y participación grupal</a:t>
            </a:r>
          </a:p>
          <a:p>
            <a:pPr algn="just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capturas/: imágenes de ejecución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/>
          <p:nvPr/>
        </p:nvGrpSpPr>
        <p:grpSpPr>
          <a:xfrm rot="5400000">
            <a:off x="1499445" y="-1000"/>
            <a:ext cx="204131" cy="1145622"/>
            <a:chOff x="0" y="0"/>
            <a:chExt cx="272175" cy="152749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5400000">
            <a:off x="16765398" y="9120930"/>
            <a:ext cx="204131" cy="1145622"/>
            <a:chOff x="0" y="0"/>
            <a:chExt cx="272175" cy="152749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15024597" y="3154387"/>
            <a:ext cx="1445195" cy="1445195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91C59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5122302" y="3252093"/>
            <a:ext cx="1249784" cy="1249784"/>
          </a:xfrm>
          <a:custGeom>
            <a:avLst/>
            <a:gdLst/>
            <a:ahLst/>
            <a:cxnLst/>
            <a:rect r="r" b="b" t="t" l="l"/>
            <a:pathLst>
              <a:path h="1249784" w="1249784">
                <a:moveTo>
                  <a:pt x="0" y="0"/>
                </a:moveTo>
                <a:lnTo>
                  <a:pt x="1249784" y="0"/>
                </a:lnTo>
                <a:lnTo>
                  <a:pt x="1249784" y="1249784"/>
                </a:lnTo>
                <a:lnTo>
                  <a:pt x="0" y="1249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57150" cap="sq">
            <a:solidFill>
              <a:srgbClr val="FFFFFF"/>
            </a:solidFill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76196" y="1694718"/>
            <a:ext cx="13577011" cy="6897563"/>
            <a:chOff x="0" y="0"/>
            <a:chExt cx="3575838" cy="1816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75838" cy="1816642"/>
            </a:xfrm>
            <a:custGeom>
              <a:avLst/>
              <a:gdLst/>
              <a:ahLst/>
              <a:cxnLst/>
              <a:rect r="r" b="b" t="t" l="l"/>
              <a:pathLst>
                <a:path h="1816642" w="3575838">
                  <a:moveTo>
                    <a:pt x="0" y="0"/>
                  </a:moveTo>
                  <a:lnTo>
                    <a:pt x="3575838" y="0"/>
                  </a:lnTo>
                  <a:lnTo>
                    <a:pt x="3575838" y="1816642"/>
                  </a:lnTo>
                  <a:lnTo>
                    <a:pt x="0" y="1816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575838" cy="1864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12780" y="3061827"/>
            <a:ext cx="14103844" cy="375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82"/>
              </a:lnSpc>
            </a:pPr>
            <a:r>
              <a:rPr lang="en-US" b="true" sz="12099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MUCHAS</a:t>
            </a:r>
          </a:p>
          <a:p>
            <a:pPr algn="ctr">
              <a:lnSpc>
                <a:spcPts val="14882"/>
              </a:lnSpc>
            </a:pPr>
            <a:r>
              <a:rPr lang="en-US" b="true" sz="12099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GRACIAS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889506" y="9258300"/>
            <a:ext cx="4046056" cy="2430717"/>
            <a:chOff x="0" y="0"/>
            <a:chExt cx="1065628" cy="6401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5628" cy="640189"/>
            </a:xfrm>
            <a:custGeom>
              <a:avLst/>
              <a:gdLst/>
              <a:ahLst/>
              <a:cxnLst/>
              <a:rect r="r" b="b" t="t" l="l"/>
              <a:pathLst>
                <a:path h="640189" w="1065628">
                  <a:moveTo>
                    <a:pt x="0" y="0"/>
                  </a:moveTo>
                  <a:lnTo>
                    <a:pt x="1065628" y="0"/>
                  </a:lnTo>
                  <a:lnTo>
                    <a:pt x="1065628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65628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80968" y="7054326"/>
            <a:ext cx="15426816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true">
                <a:solidFill>
                  <a:srgbClr val="191C59"/>
                </a:solidFill>
                <a:latin typeface="Mardoto Bold"/>
                <a:ea typeface="Mardoto Bold"/>
                <a:cs typeface="Mardoto Bold"/>
                <a:sym typeface="Mardoto Bold"/>
              </a:rPr>
              <a:t>Alumnos: María Aldana Hernández – </a:t>
            </a:r>
            <a:r>
              <a:rPr lang="en-US" b="true" sz="3100">
                <a:solidFill>
                  <a:srgbClr val="191C59"/>
                </a:solidFill>
                <a:latin typeface="Mardoto Bold"/>
                <a:ea typeface="Mardoto Bold"/>
                <a:cs typeface="Mardoto Bold"/>
                <a:sym typeface="Mardoto Bold"/>
                <a:hlinkClick r:id="rId2" tooltip="mailto:marialdanahernandez@gmail.com"/>
              </a:rPr>
              <a:t>marialdanahernandez@gmail.com</a:t>
            </a:r>
          </a:p>
          <a:p>
            <a:pPr algn="ctr">
              <a:lnSpc>
                <a:spcPts val="4340"/>
              </a:lnSpc>
            </a:pPr>
            <a:r>
              <a:rPr lang="en-US" sz="3100" b="true">
                <a:solidFill>
                  <a:srgbClr val="191C59"/>
                </a:solidFill>
                <a:latin typeface="Mardoto Bold"/>
                <a:ea typeface="Mardoto Bold"/>
                <a:cs typeface="Mardoto Bold"/>
                <a:sym typeface="Mardoto Bold"/>
              </a:rPr>
              <a:t>Juan Facundo Escalante – facuescalante@gmail.com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548500" y="741664"/>
            <a:ext cx="204131" cy="1145622"/>
            <a:chOff x="0" y="0"/>
            <a:chExt cx="272175" cy="152749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5400000">
            <a:off x="16905719" y="9142704"/>
            <a:ext cx="204131" cy="1145622"/>
            <a:chOff x="0" y="0"/>
            <a:chExt cx="272175" cy="1527496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DAG4H2s46is</dc:identifier>
  <dcterms:modified xsi:type="dcterms:W3CDTF">2011-08-01T06:04:30Z</dcterms:modified>
  <cp:revision>1</cp:revision>
  <dc:title>Trabajo Práctico Integrador (TPI) - Programacion 1</dc:title>
</cp:coreProperties>
</file>